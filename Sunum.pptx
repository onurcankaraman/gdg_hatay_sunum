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7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6.png"/><Relationship Id="rId21" Type="http://schemas.openxmlformats.org/officeDocument/2006/relationships/image" Target="../media/image7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35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6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5.png"/><Relationship Id="rId10" Type="http://schemas.openxmlformats.org/officeDocument/2006/relationships/image" Target="../media/image63.png"/><Relationship Id="rId19" Type="http://schemas.openxmlformats.org/officeDocument/2006/relationships/image" Target="../media/image71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 dirty="0"/>
          </a:p>
        </p:txBody>
      </p:sp>
      <p:sp>
        <p:nvSpPr>
          <p:cNvPr id="3" name="Shape 1"/>
          <p:cNvSpPr/>
          <p:nvPr/>
        </p:nvSpPr>
        <p:spPr>
          <a:xfrm>
            <a:off x="2641702" y="5229454"/>
            <a:ext cx="6915607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8688" y="5648249"/>
            <a:ext cx="171907" cy="1719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5427878" y="5648249"/>
            <a:ext cx="152705" cy="1719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7643470" y="5648249"/>
            <a:ext cx="219456" cy="1719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18734" y="1695298"/>
            <a:ext cx="1619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Makineyi</a:t>
            </a:r>
            <a:endParaRPr lang="en-US" sz="2700" dirty="0"/>
          </a:p>
        </p:txBody>
      </p:sp>
      <p:sp>
        <p:nvSpPr>
          <p:cNvPr id="8" name="Text 3"/>
          <p:cNvSpPr txBox="1"/>
          <p:nvPr/>
        </p:nvSpPr>
        <p:spPr>
          <a:xfrm>
            <a:off x="2158898" y="2076602"/>
            <a:ext cx="8563356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"Konuşan" </a:t>
            </a:r>
            <a:r>
              <a:rPr lang="en-US" sz="7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API'ye</a:t>
            </a:r>
            <a:endParaRPr lang="en-US" sz="7200" dirty="0"/>
          </a:p>
        </p:txBody>
      </p:sp>
      <p:sp>
        <p:nvSpPr>
          <p:cNvPr id="9" name="Text 4"/>
          <p:cNvSpPr txBox="1"/>
          <p:nvPr/>
        </p:nvSpPr>
        <p:spPr>
          <a:xfrm>
            <a:off x="4279392" y="3105302"/>
            <a:ext cx="40672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Dönüştürmek</a:t>
            </a:r>
            <a:endParaRPr lang="en-US" sz="4500" dirty="0"/>
          </a:p>
        </p:txBody>
      </p:sp>
      <p:sp>
        <p:nvSpPr>
          <p:cNvPr id="10" name="Text 5"/>
          <p:cNvSpPr txBox="1"/>
          <p:nvPr/>
        </p:nvSpPr>
        <p:spPr>
          <a:xfrm>
            <a:off x="3716122" y="4448556"/>
            <a:ext cx="4934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RAG, Fine-Tune ve Low-Code Karşılaştırması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609137" y="5553151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KATMAN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3609137" y="5734202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Fiziksel &amp; Bilişsel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809183" y="5553151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YAKLAŞIM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809183" y="5734202"/>
            <a:ext cx="1252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vs Fine-Tune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057693" y="5553151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8057693" y="5734202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Canlı Workshop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32934" y="933602"/>
            <a:ext cx="2734056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618" b="-618"/>
          <a:stretch/>
        </p:blipFill>
        <p:spPr>
          <a:xfrm>
            <a:off x="4933188" y="1047902"/>
            <a:ext cx="161849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70932" y="1047902"/>
            <a:ext cx="2196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GDG HATAY DEVFEST 2025</a:t>
            </a:r>
            <a:endParaRPr lang="en-US" sz="10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15BE08E-0810-5530-F139-63008FA727E7}"/>
              </a:ext>
            </a:extLst>
          </p:cNvPr>
          <p:cNvSpPr txBox="1"/>
          <p:nvPr/>
        </p:nvSpPr>
        <p:spPr>
          <a:xfrm>
            <a:off x="3628796" y="6392569"/>
            <a:ext cx="4934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Onur Can KARAMAN – Industrial Application Leader @</a:t>
            </a:r>
            <a:r>
              <a:rPr lang="en-US" sz="180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Digitheta</a:t>
            </a:r>
            <a:endParaRPr lang="en-US" sz="1800" dirty="0"/>
          </a:p>
        </p:txBody>
      </p:sp>
      <p:pic>
        <p:nvPicPr>
          <p:cNvPr id="22" name="Picture 21" descr="A blue and black logo&#10;&#10;AI-generated content may be incorrect.">
            <a:extLst>
              <a:ext uri="{FF2B5EF4-FFF2-40B4-BE49-F238E27FC236}">
                <a16:creationId xmlns:a16="http://schemas.microsoft.com/office/drawing/2014/main" id="{576379F1-F814-56F9-83C1-17414961F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811" y="126371"/>
            <a:ext cx="2280885" cy="683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4267505" y="0"/>
            <a:ext cx="792510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0650017" y="304495"/>
            <a:ext cx="1238098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10811866" y="428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 txBox="1"/>
          <p:nvPr/>
        </p:nvSpPr>
        <p:spPr>
          <a:xfrm>
            <a:off x="10964570" y="390449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GenAI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1571854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457200" y="5896051"/>
            <a:ext cx="33531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457200" y="6238951"/>
            <a:ext cx="152705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" y="504749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TEMEL KAVRAMLAR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866851"/>
            <a:ext cx="34774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Nedir?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762049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Endüstriyel Bakış Açısıyla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072030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Büyük Dil Modelleri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4205" y="6219749"/>
            <a:ext cx="1938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Üretim &amp; Otomasyon Bağlamı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057046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5029200" y="1057046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5257800" y="1248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1302" y="1380744"/>
            <a:ext cx="190195" cy="1901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0" y="2367382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5029200" y="2367382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5257800" y="25575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67528" y="2691079"/>
            <a:ext cx="237744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29200" y="352409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0"/>
          <p:cNvSpPr/>
          <p:nvPr/>
        </p:nvSpPr>
        <p:spPr>
          <a:xfrm>
            <a:off x="5029200" y="352409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5257800" y="371520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91302" y="3847795"/>
            <a:ext cx="190195" cy="1901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0" y="468172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23"/>
          <p:cNvSpPr/>
          <p:nvPr/>
        </p:nvSpPr>
        <p:spPr>
          <a:xfrm>
            <a:off x="5029200" y="468172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24"/>
          <p:cNvSpPr/>
          <p:nvPr/>
        </p:nvSpPr>
        <p:spPr>
          <a:xfrm>
            <a:off x="5257800" y="4871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1302" y="5005426"/>
            <a:ext cx="190195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905195" y="1276502"/>
            <a:ext cx="643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Tanım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905195" y="1571854"/>
            <a:ext cx="48728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Büyük Dil Modelleri (LLM), metin üretimi ve anlama için eğitilmiş, milyarlarca parametre içeren genel amaçlı modellerdir.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905195" y="2585923"/>
            <a:ext cx="1853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Endüstriyel Kullanım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905195" y="2881274"/>
            <a:ext cx="50721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Teknik doküman sorgulama, üretim loglarının analizi, operatör asistanlığı ve API üzerinden akıllı arayüzler oluşturma.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905195" y="3743554"/>
            <a:ext cx="11384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Sınırlamalar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5905195" y="4038905"/>
            <a:ext cx="51864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Halüsinasyon riski (yanlış bilgi), sınırlı bağlam penceresi, kurumsal veri gizliliği ve yasal düzenlemelere uyum zorlukları.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5905195" y="4900270"/>
            <a:ext cx="1347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Çözüm Yönleri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05195" y="5195621"/>
            <a:ext cx="50822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ile bağlam zenginleştirme, İnce Ayar (Fine-Tuning) ile alan adaptasyonu ve düşük kodlu orkestrasyon.</a:t>
            </a:r>
            <a:endParaRPr lang="en-US" sz="1000" dirty="0"/>
          </a:p>
        </p:txBody>
      </p:sp>
      <p:pic>
        <p:nvPicPr>
          <p:cNvPr id="40" name="Picture 39" descr="A blue and black logo&#10;&#10;AI-generated content may be incorrect.">
            <a:extLst>
              <a:ext uri="{FF2B5EF4-FFF2-40B4-BE49-F238E27FC236}">
                <a16:creationId xmlns:a16="http://schemas.microsoft.com/office/drawing/2014/main" id="{19D0F712-6D0C-C33A-A6E6-319F14143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238" y="6257382"/>
            <a:ext cx="1774868" cy="53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4267505" y="0"/>
            <a:ext cx="792510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0544861" y="304495"/>
            <a:ext cx="134325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10706710" y="428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 txBox="1"/>
          <p:nvPr/>
        </p:nvSpPr>
        <p:spPr>
          <a:xfrm>
            <a:off x="10859414" y="390449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Mimari Konsept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1485900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457200" y="5896051"/>
            <a:ext cx="33531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457200" y="6238951"/>
            <a:ext cx="152705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" y="504749"/>
            <a:ext cx="1324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TEKNİK TANIMLAR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866851"/>
            <a:ext cx="3610051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&amp; Fine-Tune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47619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Yapay Zekayı Özelleştirmenin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78617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Temel Yolu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4205" y="6219749"/>
            <a:ext cx="1957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Adaptasyon Stratejileri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24705" y="866851"/>
            <a:ext cx="7010705" cy="15809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4724705" y="866851"/>
            <a:ext cx="38405" cy="15809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4990795" y="1095451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43500" y="1248156"/>
            <a:ext cx="228600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24705" y="2676449"/>
            <a:ext cx="7010705" cy="15809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4724705" y="2676449"/>
            <a:ext cx="38405" cy="15809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4990795" y="29050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43500" y="3057754"/>
            <a:ext cx="228600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724705" y="4410151"/>
            <a:ext cx="7010705" cy="15809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0"/>
          <p:cNvSpPr/>
          <p:nvPr/>
        </p:nvSpPr>
        <p:spPr>
          <a:xfrm>
            <a:off x="4724705" y="4410151"/>
            <a:ext cx="38405" cy="15809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4990795" y="4638751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43500" y="479145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753405" y="1104595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(Bilgi Getirmeli Üretim)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5753405" y="1505102"/>
            <a:ext cx="56583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Vektör arama teknolojisi kullanarak, güncel veya kuruma özel dokümanlardan (PDF, Veritabanı) ilgili parçaları anlık olarak çeker ve LLM'e bağlam (context) olarak sunar. Modelin hafızasını eğitmeden genişletir.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753405" y="2915107"/>
            <a:ext cx="2781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(İnce Ayar)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5753405" y="3314700"/>
            <a:ext cx="5572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Önceden eğitilmiş bir modeli, spesifik alan verileriyle (ör. tıbbi raporlar, kod blokları) yeniden eğiterek belirli görevlerdeki tutarlılığını, üslubunu ve format başarısını kalıcı olarak iyileştirir.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753405" y="4647895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Tamamlayıcı Yaklaşım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5753405" y="5048402"/>
            <a:ext cx="5696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iki yöntem birbirinin alternatifi değil, tamamlayıcısıdır. Örneğin; RAG ile güncel bilgi sağlanırken, Fine-Tuning ile modelin bu bilgiyi sunma biçimi (json, rapor formatı) optimize edilebilir.</a:t>
            </a:r>
            <a:endParaRPr lang="en-US" sz="1200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A7F9A900-F971-CF8E-8C45-0701FA1C7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238" y="6257382"/>
            <a:ext cx="1774868" cy="53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04495" y="1307592"/>
            <a:ext cx="5639105" cy="5248656"/>
          </a:xfrm>
          <a:prstGeom prst="roundRect">
            <a:avLst>
              <a:gd name="adj" fmla="val 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304495" y="1307592"/>
            <a:ext cx="5639105" cy="57607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304495" y="1364285"/>
            <a:ext cx="5639105" cy="961949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304495" y="2317090"/>
            <a:ext cx="563910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652882" y="1745590"/>
            <a:ext cx="219456" cy="19019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533095" y="2588666"/>
            <a:ext cx="142646" cy="1335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2551" y="2554834"/>
            <a:ext cx="9674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ZAMAN?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33095" y="2830982"/>
            <a:ext cx="5181905" cy="1076249"/>
          </a:xfrm>
          <a:prstGeom prst="roundRect">
            <a:avLst>
              <a:gd name="adj" fmla="val 601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47395" y="2945282"/>
            <a:ext cx="75895" cy="114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4445" y="2905090"/>
            <a:ext cx="22841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Sık güncellenen bilgi gerektiğinde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47395" y="3227832"/>
            <a:ext cx="75895" cy="1143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74445" y="3187640"/>
            <a:ext cx="25127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Dokümantasyon tabanlı kesin yanıtlar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47395" y="3509467"/>
            <a:ext cx="75895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4445" y="3469275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Düşük veri maliyeti hedeflendiğinde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533095" y="4167835"/>
            <a:ext cx="142646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52551" y="4134002"/>
            <a:ext cx="728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ARTILAR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33095" y="4410151"/>
            <a:ext cx="105156" cy="1143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8539" y="4359911"/>
            <a:ext cx="17894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zaman en güncel bilgi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33095" y="4692701"/>
            <a:ext cx="105156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98539" y="4642461"/>
            <a:ext cx="25612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dışarı çıkmadan (On-prem) çalışır</a:t>
            </a:r>
            <a:endParaRPr lang="en-US" sz="10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33095" y="4974336"/>
            <a:ext cx="105156" cy="1143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98539" y="4924096"/>
            <a:ext cx="19897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gösterme ve şeffaflık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3425" r="-3425"/>
          <a:stretch/>
        </p:blipFill>
        <p:spPr>
          <a:xfrm>
            <a:off x="533095" y="5518404"/>
            <a:ext cx="142646" cy="133502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52551" y="5484571"/>
            <a:ext cx="700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EKSİLER</a:t>
            </a:r>
            <a:endParaRPr lang="en-US" sz="10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533095" y="5760720"/>
            <a:ext cx="85954" cy="1143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79337" y="5710480"/>
            <a:ext cx="28181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Bağlam penceresi (Context Window) sınırı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533095" y="6042355"/>
            <a:ext cx="85954" cy="11430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79337" y="5992115"/>
            <a:ext cx="2951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Vektör veritabanı ve indeks bakımı gerektirir</a:t>
            </a:r>
            <a:endParaRPr lang="en-US" sz="1000" dirty="0"/>
          </a:p>
        </p:txBody>
      </p:sp>
      <p:sp>
        <p:nvSpPr>
          <p:cNvPr id="32" name="Text 18"/>
          <p:cNvSpPr txBox="1"/>
          <p:nvPr/>
        </p:nvSpPr>
        <p:spPr>
          <a:xfrm>
            <a:off x="1143000" y="1602943"/>
            <a:ext cx="657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800" dirty="0"/>
          </a:p>
        </p:txBody>
      </p:sp>
      <p:sp>
        <p:nvSpPr>
          <p:cNvPr id="33" name="Text 19"/>
          <p:cNvSpPr txBox="1"/>
          <p:nvPr/>
        </p:nvSpPr>
        <p:spPr>
          <a:xfrm>
            <a:off x="1143000" y="1907438"/>
            <a:ext cx="2196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6248095" y="1307592"/>
            <a:ext cx="5639105" cy="5248656"/>
          </a:xfrm>
          <a:prstGeom prst="roundRect">
            <a:avLst>
              <a:gd name="adj" fmla="val 5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5" name="Shape 21"/>
          <p:cNvSpPr/>
          <p:nvPr/>
        </p:nvSpPr>
        <p:spPr>
          <a:xfrm>
            <a:off x="6248095" y="1307592"/>
            <a:ext cx="5639105" cy="57607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Shape 22"/>
          <p:cNvSpPr/>
          <p:nvPr/>
        </p:nvSpPr>
        <p:spPr>
          <a:xfrm>
            <a:off x="6248095" y="2317090"/>
            <a:ext cx="563910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1745590"/>
            <a:ext cx="190195" cy="190195"/>
          </a:xfrm>
          <a:prstGeom prst="rect">
            <a:avLst/>
          </a:prstGeom>
        </p:spPr>
      </p:pic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6476695" y="2588666"/>
            <a:ext cx="142646" cy="133502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6696151" y="2554834"/>
            <a:ext cx="9674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ZAMAN?</a:t>
            </a:r>
            <a:endParaRPr lang="en-US" sz="10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590995" y="2945282"/>
            <a:ext cx="75895" cy="114300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6718045" y="2895042"/>
            <a:ext cx="2760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Tutarlı bir üslup veya format gerektiğinde</a:t>
            </a:r>
            <a:endParaRPr lang="en-US" sz="10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590995" y="3227832"/>
            <a:ext cx="75895" cy="114300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6718045" y="3177592"/>
            <a:ext cx="22274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bir görevde yüksek doğruluk</a:t>
            </a:r>
            <a:endParaRPr lang="en-US" sz="10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6590995" y="3509467"/>
            <a:ext cx="75895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6718045" y="3459227"/>
            <a:ext cx="2465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Yapılandırılmış çıktı (JSON, XML vb.)</a:t>
            </a:r>
            <a:endParaRPr lang="en-US" sz="10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6476695" y="4167835"/>
            <a:ext cx="142646" cy="133502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6696151" y="4134002"/>
            <a:ext cx="728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ARTILAR</a:t>
            </a:r>
            <a:endParaRPr lang="en-US" sz="1000" dirty="0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76695" y="4410151"/>
            <a:ext cx="105156" cy="114300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6632091" y="4359911"/>
            <a:ext cx="2179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Düşük gecikme süresi (Latency)</a:t>
            </a:r>
            <a:endParaRPr lang="en-US" sz="1000" dirty="0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76695" y="4692701"/>
            <a:ext cx="105156" cy="114300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6632091" y="4642461"/>
            <a:ext cx="2475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mühendisliği ihtiyacını azaltır</a:t>
            </a:r>
            <a:endParaRPr lang="en-US" sz="1000" dirty="0"/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76695" y="4974336"/>
            <a:ext cx="105156" cy="114300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6632091" y="4924096"/>
            <a:ext cx="20180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Kapalı ağda daha kolay çalışır</a:t>
            </a:r>
            <a:endParaRPr lang="en-US" sz="1000" dirty="0"/>
          </a:p>
        </p:txBody>
      </p:sp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8"/>
          <a:srcRect l="-3425" r="-3425"/>
          <a:stretch/>
        </p:blipFill>
        <p:spPr>
          <a:xfrm>
            <a:off x="6476695" y="5518404"/>
            <a:ext cx="142646" cy="133502"/>
          </a:xfrm>
          <a:prstGeom prst="rect">
            <a:avLst/>
          </a:prstGeom>
        </p:spPr>
      </p:pic>
      <p:sp>
        <p:nvSpPr>
          <p:cNvPr id="55" name="Text 31"/>
          <p:cNvSpPr txBox="1"/>
          <p:nvPr/>
        </p:nvSpPr>
        <p:spPr>
          <a:xfrm>
            <a:off x="6696151" y="5484571"/>
            <a:ext cx="700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EKSİLER</a:t>
            </a:r>
            <a:endParaRPr lang="en-US" sz="1000" dirty="0"/>
          </a:p>
        </p:txBody>
      </p:sp>
      <p:pic>
        <p:nvPicPr>
          <p:cNvPr id="56" name="Image 22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6476695" y="5760720"/>
            <a:ext cx="85954" cy="114300"/>
          </a:xfrm>
          <a:prstGeom prst="rect">
            <a:avLst/>
          </a:prstGeom>
        </p:spPr>
      </p:pic>
      <p:sp>
        <p:nvSpPr>
          <p:cNvPr id="57" name="Text 32"/>
          <p:cNvSpPr txBox="1"/>
          <p:nvPr/>
        </p:nvSpPr>
        <p:spPr>
          <a:xfrm>
            <a:off x="6622937" y="5720528"/>
            <a:ext cx="30842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hazırlama ve temizleme maliyeti yüksektir</a:t>
            </a:r>
            <a:endParaRPr lang="en-US" sz="1000" dirty="0"/>
          </a:p>
        </p:txBody>
      </p:sp>
      <p:pic>
        <p:nvPicPr>
          <p:cNvPr id="58" name="Image 23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6476695" y="6042355"/>
            <a:ext cx="85954" cy="114300"/>
          </a:xfrm>
          <a:prstGeom prst="rect">
            <a:avLst/>
          </a:prstGeom>
        </p:spPr>
      </p:pic>
      <p:sp>
        <p:nvSpPr>
          <p:cNvPr id="59" name="Text 33"/>
          <p:cNvSpPr txBox="1"/>
          <p:nvPr/>
        </p:nvSpPr>
        <p:spPr>
          <a:xfrm>
            <a:off x="6622937" y="6002163"/>
            <a:ext cx="29891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Bilgi güncellemek için yeniden eğitim gerekir</a:t>
            </a:r>
            <a:endParaRPr lang="en-US" sz="1000" dirty="0"/>
          </a:p>
        </p:txBody>
      </p:sp>
      <p:sp>
        <p:nvSpPr>
          <p:cNvPr id="60" name="Text 34"/>
          <p:cNvSpPr txBox="1"/>
          <p:nvPr/>
        </p:nvSpPr>
        <p:spPr>
          <a:xfrm>
            <a:off x="7086600" y="1602943"/>
            <a:ext cx="1505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61" name="Text 35"/>
          <p:cNvSpPr txBox="1"/>
          <p:nvPr/>
        </p:nvSpPr>
        <p:spPr>
          <a:xfrm>
            <a:off x="7086600" y="1907438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İnce Ayar / Özelleştirme</a:t>
            </a:r>
            <a:endParaRPr lang="en-US" sz="1000" dirty="0"/>
          </a:p>
        </p:txBody>
      </p:sp>
      <p:sp>
        <p:nvSpPr>
          <p:cNvPr id="62" name="Shape 36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3" name="Shape 37"/>
          <p:cNvSpPr/>
          <p:nvPr/>
        </p:nvSpPr>
        <p:spPr>
          <a:xfrm>
            <a:off x="0" y="1000354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4" name="Text 38"/>
          <p:cNvSpPr txBox="1"/>
          <p:nvPr/>
        </p:nvSpPr>
        <p:spPr>
          <a:xfrm>
            <a:off x="5455310" y="201168"/>
            <a:ext cx="1386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KARŞILAŞTIRMA</a:t>
            </a:r>
            <a:endParaRPr lang="en-US" sz="1000" dirty="0"/>
          </a:p>
        </p:txBody>
      </p:sp>
      <p:sp>
        <p:nvSpPr>
          <p:cNvPr id="65" name="Text 39"/>
          <p:cNvSpPr txBox="1"/>
          <p:nvPr/>
        </p:nvSpPr>
        <p:spPr>
          <a:xfrm>
            <a:off x="4433926" y="401422"/>
            <a:ext cx="35817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vs Fine-Tuning</a:t>
            </a:r>
            <a:endParaRPr lang="en-US" sz="2700" dirty="0"/>
          </a:p>
        </p:txBody>
      </p:sp>
      <p:sp>
        <p:nvSpPr>
          <p:cNvPr id="66" name="Shape 40"/>
          <p:cNvSpPr/>
          <p:nvPr/>
        </p:nvSpPr>
        <p:spPr>
          <a:xfrm>
            <a:off x="5810098" y="3644798"/>
            <a:ext cx="571500" cy="571500"/>
          </a:xfrm>
          <a:prstGeom prst="ellipse">
            <a:avLst/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F8FAFC">
                <a:alpha val="10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7" name="Text 41"/>
          <p:cNvSpPr txBox="1"/>
          <p:nvPr/>
        </p:nvSpPr>
        <p:spPr>
          <a:xfrm>
            <a:off x="5960059" y="3787445"/>
            <a:ext cx="4197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4267505" y="0"/>
            <a:ext cx="792510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0551262" y="304495"/>
            <a:ext cx="134325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10713110" y="428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>
              <a:alpha val="99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 txBox="1"/>
          <p:nvPr/>
        </p:nvSpPr>
        <p:spPr>
          <a:xfrm>
            <a:off x="10864901" y="390449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1457554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457200" y="5896051"/>
            <a:ext cx="33531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6238951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" y="504749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SENARYO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866851"/>
            <a:ext cx="3495751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 Genel Bakış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476195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Digitheta CNC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786177"/>
            <a:ext cx="2143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Testere Aşınma Analizi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05002" y="6219749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&amp; API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057046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5029200" y="1057046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5257800" y="1248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1302" y="1380744"/>
            <a:ext cx="190195" cy="1901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0" y="2367382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5029200" y="2367382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5257800" y="25575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15077" y="2691079"/>
            <a:ext cx="142646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29200" y="352409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0"/>
          <p:cNvSpPr/>
          <p:nvPr/>
        </p:nvSpPr>
        <p:spPr>
          <a:xfrm>
            <a:off x="5029200" y="352409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5257800" y="371520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91302" y="3847795"/>
            <a:ext cx="190195" cy="1901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0" y="468172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23"/>
          <p:cNvSpPr/>
          <p:nvPr/>
        </p:nvSpPr>
        <p:spPr>
          <a:xfrm>
            <a:off x="5029200" y="468172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24"/>
          <p:cNvSpPr/>
          <p:nvPr/>
        </p:nvSpPr>
        <p:spPr>
          <a:xfrm>
            <a:off x="5257800" y="4871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5400446" y="5005426"/>
            <a:ext cx="171907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905195" y="1276502"/>
            <a:ext cx="8247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905195" y="1571854"/>
            <a:ext cx="51014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Alüminyum blokların kesilmesi sırasında testere bıçağının aşınma oranını gerçek zamanlı tahmin etmek ve plansız duruşları önlemek.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905195" y="2585923"/>
            <a:ext cx="719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Çözüm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905195" y="2881274"/>
            <a:ext cx="54150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analizi ve SPC sonrası eğitilen Gradient Boosting Regressor modeli ve bu modeli sunan Docker tabanlı FastAPI servisi.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905195" y="3743554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5905195" y="4038905"/>
            <a:ext cx="51489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MAE: 1.087 mm/saat hata payı R²: 0.564 model performansı Hız: &lt; 5ms API yanıt süresi (Batch prediction)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5905195" y="4900270"/>
            <a:ext cx="700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Durum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05195" y="5195621"/>
            <a:ext cx="54251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Production-ready. Docker container içinde paketlenmiş, Langflow AI ajanı ile entegre edilmeye hazır kapsamlı çözüm.</a:t>
            </a:r>
            <a:endParaRPr lang="en-US" sz="1000" dirty="0"/>
          </a:p>
        </p:txBody>
      </p:sp>
      <p:pic>
        <p:nvPicPr>
          <p:cNvPr id="40" name="Picture 39" descr="A blue and black logo&#10;&#10;AI-generated content may be incorrect.">
            <a:extLst>
              <a:ext uri="{FF2B5EF4-FFF2-40B4-BE49-F238E27FC236}">
                <a16:creationId xmlns:a16="http://schemas.microsoft.com/office/drawing/2014/main" id="{FD1B1A00-45B8-8A3D-B015-8F49B68D0A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238" y="6257382"/>
            <a:ext cx="1774868" cy="53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 txBox="1"/>
          <p:nvPr/>
        </p:nvSpPr>
        <p:spPr>
          <a:xfrm>
            <a:off x="457200" y="314554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GENEL BAKIŞ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4807"/>
            <a:ext cx="2981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Mimarisi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67105"/>
            <a:ext cx="11277295" cy="2219249"/>
          </a:xfrm>
          <a:prstGeom prst="roundRect">
            <a:avLst>
              <a:gd name="adj" fmla="val 4244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761695" y="972007"/>
            <a:ext cx="1828800" cy="219456"/>
          </a:xfrm>
          <a:prstGeom prst="roundRect">
            <a:avLst>
              <a:gd name="adj" fmla="val 41666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923544" y="1011326"/>
            <a:ext cx="152705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" y="981151"/>
            <a:ext cx="13743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FİZİKSEL KATMAN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58007" y="2163470"/>
            <a:ext cx="1638605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 txBox="1"/>
          <p:nvPr/>
        </p:nvSpPr>
        <p:spPr>
          <a:xfrm>
            <a:off x="3666744" y="1944014"/>
            <a:ext cx="5056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Sensör Verisi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95998" y="2163470"/>
            <a:ext cx="1638605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 txBox="1"/>
          <p:nvPr/>
        </p:nvSpPr>
        <p:spPr>
          <a:xfrm>
            <a:off x="7909560" y="1944014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Stream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137038" y="3151937"/>
            <a:ext cx="19202" cy="1324051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Shape 12"/>
          <p:cNvSpPr/>
          <p:nvPr/>
        </p:nvSpPr>
        <p:spPr>
          <a:xfrm>
            <a:off x="457200" y="3507638"/>
            <a:ext cx="11277295" cy="3047695"/>
          </a:xfrm>
          <a:prstGeom prst="roundRect">
            <a:avLst>
              <a:gd name="adj" fmla="val 2250"/>
            </a:avLst>
          </a:prstGeom>
          <a:solidFill>
            <a:srgbClr val="F0FDF4"/>
          </a:solidFill>
          <a:ln w="254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3"/>
          <p:cNvSpPr/>
          <p:nvPr/>
        </p:nvSpPr>
        <p:spPr>
          <a:xfrm>
            <a:off x="761695" y="3412541"/>
            <a:ext cx="1800454" cy="219456"/>
          </a:xfrm>
          <a:prstGeom prst="roundRect">
            <a:avLst>
              <a:gd name="adj" fmla="val 4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3452774"/>
            <a:ext cx="133502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33856" y="3421685"/>
            <a:ext cx="13642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BİLİŞSEL KATMAN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58007" y="5020970"/>
            <a:ext cx="1638605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Shape 16"/>
          <p:cNvSpPr/>
          <p:nvPr/>
        </p:nvSpPr>
        <p:spPr>
          <a:xfrm>
            <a:off x="7295998" y="5020970"/>
            <a:ext cx="1638605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3292754" y="5030114"/>
            <a:ext cx="1619402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7282282" y="5030114"/>
            <a:ext cx="1619402" cy="1920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3" name="Shape 19"/>
          <p:cNvSpPr/>
          <p:nvPr/>
        </p:nvSpPr>
        <p:spPr>
          <a:xfrm>
            <a:off x="1009498" y="1467612"/>
            <a:ext cx="2095805" cy="1410005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4" name="Shape 20"/>
          <p:cNvSpPr/>
          <p:nvPr/>
        </p:nvSpPr>
        <p:spPr>
          <a:xfrm>
            <a:off x="1009498" y="2839212"/>
            <a:ext cx="209580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1"/>
          <p:cNvSpPr/>
          <p:nvPr/>
        </p:nvSpPr>
        <p:spPr>
          <a:xfrm>
            <a:off x="1828800" y="165872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914754" y="1773022"/>
            <a:ext cx="286207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530706" y="2249424"/>
            <a:ext cx="1172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Digitheta CNC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511503" y="2496312"/>
            <a:ext cx="11814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Testere Operasyonu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048402" y="1412748"/>
            <a:ext cx="2095805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0" name="Shape 25"/>
          <p:cNvSpPr/>
          <p:nvPr/>
        </p:nvSpPr>
        <p:spPr>
          <a:xfrm>
            <a:off x="5048402" y="2898648"/>
            <a:ext cx="209580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1" name="Shape 26"/>
          <p:cNvSpPr/>
          <p:nvPr/>
        </p:nvSpPr>
        <p:spPr>
          <a:xfrm>
            <a:off x="5867705" y="160294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95721" y="1717243"/>
            <a:ext cx="200254" cy="2286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618988" y="2517343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Shape 28"/>
          <p:cNvSpPr/>
          <p:nvPr/>
        </p:nvSpPr>
        <p:spPr>
          <a:xfrm>
            <a:off x="5950001" y="2517343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5" name="Shape 29"/>
          <p:cNvSpPr/>
          <p:nvPr/>
        </p:nvSpPr>
        <p:spPr>
          <a:xfrm>
            <a:off x="6280099" y="2517343"/>
            <a:ext cx="295351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Text 30"/>
          <p:cNvSpPr txBox="1"/>
          <p:nvPr/>
        </p:nvSpPr>
        <p:spPr>
          <a:xfrm>
            <a:off x="5734202" y="2193646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Sensörler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5676595" y="2536546"/>
            <a:ext cx="2578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Güç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6006694" y="2536546"/>
            <a:ext cx="2578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Hız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6337706" y="2536546"/>
            <a:ext cx="2578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RPM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9087307" y="1355141"/>
            <a:ext cx="2095805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1" name="Shape 35"/>
          <p:cNvSpPr/>
          <p:nvPr/>
        </p:nvSpPr>
        <p:spPr>
          <a:xfrm>
            <a:off x="9087307" y="2955341"/>
            <a:ext cx="2095805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19995" y="1660550"/>
            <a:ext cx="228600" cy="22860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9839858" y="2574950"/>
            <a:ext cx="590702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Text 37"/>
          <p:cNvSpPr txBox="1"/>
          <p:nvPr/>
        </p:nvSpPr>
        <p:spPr>
          <a:xfrm>
            <a:off x="9849002" y="2136953"/>
            <a:ext cx="695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9662465" y="2383841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Container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9897466" y="2594153"/>
            <a:ext cx="5532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1009498" y="4365346"/>
            <a:ext cx="2095805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8" name="Shape 41"/>
          <p:cNvSpPr/>
          <p:nvPr/>
        </p:nvSpPr>
        <p:spPr>
          <a:xfrm>
            <a:off x="1009498" y="5965546"/>
            <a:ext cx="2095805" cy="38405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1957730" y="4669841"/>
            <a:ext cx="200254" cy="22860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1673352" y="5584241"/>
            <a:ext cx="771754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1" name="Text 43"/>
          <p:cNvSpPr txBox="1"/>
          <p:nvPr/>
        </p:nvSpPr>
        <p:spPr>
          <a:xfrm>
            <a:off x="1800454" y="5146243"/>
            <a:ext cx="629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1593799" y="539404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Vektör Veritabanı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1730959" y="5603443"/>
            <a:ext cx="734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Context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5048402" y="4155948"/>
            <a:ext cx="2095805" cy="1752905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5" name="Shape 47"/>
          <p:cNvSpPr/>
          <p:nvPr/>
        </p:nvSpPr>
        <p:spPr>
          <a:xfrm>
            <a:off x="5048402" y="5870448"/>
            <a:ext cx="2095805" cy="38405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5952744" y="4460443"/>
            <a:ext cx="286207" cy="228600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5557723" y="5489143"/>
            <a:ext cx="590702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8" name="Shape 49"/>
          <p:cNvSpPr/>
          <p:nvPr/>
        </p:nvSpPr>
        <p:spPr>
          <a:xfrm>
            <a:off x="6223406" y="5489143"/>
            <a:ext cx="418795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9" name="Text 50"/>
          <p:cNvSpPr txBox="1"/>
          <p:nvPr/>
        </p:nvSpPr>
        <p:spPr>
          <a:xfrm>
            <a:off x="5735117" y="4946904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</a:t>
            </a:r>
            <a:endParaRPr lang="en-US" sz="1300" dirty="0"/>
          </a:p>
        </p:txBody>
      </p:sp>
      <p:sp>
        <p:nvSpPr>
          <p:cNvPr id="60" name="Text 51"/>
          <p:cNvSpPr txBox="1"/>
          <p:nvPr/>
        </p:nvSpPr>
        <p:spPr>
          <a:xfrm>
            <a:off x="5490972" y="5223053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 Orchestrator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5614416" y="5508346"/>
            <a:ext cx="5532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Use</a:t>
            </a:r>
            <a:endParaRPr lang="en-US" sz="800" dirty="0"/>
          </a:p>
        </p:txBody>
      </p:sp>
      <p:sp>
        <p:nvSpPr>
          <p:cNvPr id="62" name="Text 53"/>
          <p:cNvSpPr txBox="1"/>
          <p:nvPr/>
        </p:nvSpPr>
        <p:spPr>
          <a:xfrm>
            <a:off x="6280099" y="5508346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9087307" y="4365346"/>
            <a:ext cx="2095805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4" name="Shape 55"/>
          <p:cNvSpPr/>
          <p:nvPr/>
        </p:nvSpPr>
        <p:spPr>
          <a:xfrm>
            <a:off x="9087307" y="5965546"/>
            <a:ext cx="2095805" cy="38405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10006279" y="4669841"/>
            <a:ext cx="256946" cy="228600"/>
          </a:xfrm>
          <a:prstGeom prst="rect">
            <a:avLst/>
          </a:prstGeom>
        </p:spPr>
      </p:pic>
      <p:sp>
        <p:nvSpPr>
          <p:cNvPr id="66" name="Shape 56"/>
          <p:cNvSpPr/>
          <p:nvPr/>
        </p:nvSpPr>
        <p:spPr>
          <a:xfrm>
            <a:off x="9780422" y="5584241"/>
            <a:ext cx="714146" cy="190195"/>
          </a:xfrm>
          <a:prstGeom prst="roundRect">
            <a:avLst>
              <a:gd name="adj" fmla="val 9615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7" name="Text 57"/>
          <p:cNvSpPr txBox="1"/>
          <p:nvPr/>
        </p:nvSpPr>
        <p:spPr>
          <a:xfrm>
            <a:off x="9623146" y="5146243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GenAI</a:t>
            </a:r>
            <a:endParaRPr lang="en-US" sz="1200" dirty="0"/>
          </a:p>
        </p:txBody>
      </p:sp>
      <p:sp>
        <p:nvSpPr>
          <p:cNvPr id="68" name="Text 58"/>
          <p:cNvSpPr txBox="1"/>
          <p:nvPr/>
        </p:nvSpPr>
        <p:spPr>
          <a:xfrm>
            <a:off x="9767621" y="5394046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Backend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9838030" y="5603443"/>
            <a:ext cx="6766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Gemini Pro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8591702" y="3685946"/>
            <a:ext cx="1104595" cy="247802"/>
          </a:xfrm>
          <a:prstGeom prst="roundRect">
            <a:avLst>
              <a:gd name="adj" fmla="val 369004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706002" y="3748126"/>
            <a:ext cx="105156" cy="114300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8849563" y="3733495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/ JSON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4267505" y="0"/>
            <a:ext cx="792510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0431475" y="304495"/>
            <a:ext cx="145755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10593324" y="428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>
              <a:alpha val="87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 txBox="1"/>
          <p:nvPr/>
        </p:nvSpPr>
        <p:spPr>
          <a:xfrm>
            <a:off x="10745114" y="390449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1228954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457200" y="5896051"/>
            <a:ext cx="33531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6238951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" y="504749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MİMARİ DETAY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866851"/>
            <a:ext cx="2553005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Fiziksel Katman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476195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 Makinesi, Sensör Verisi ve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786177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Servisi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05002" y="6219749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Toplama &amp; İşleme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057046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5029200" y="1057046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5257800" y="1248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67528" y="1380744"/>
            <a:ext cx="237744" cy="1901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0" y="2367382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5029200" y="2367382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5257800" y="25575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5400446" y="2691079"/>
            <a:ext cx="171907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29200" y="352409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0"/>
          <p:cNvSpPr/>
          <p:nvPr/>
        </p:nvSpPr>
        <p:spPr>
          <a:xfrm>
            <a:off x="5029200" y="352409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5257800" y="371520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91302" y="3847795"/>
            <a:ext cx="190195" cy="1901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0" y="468172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23"/>
          <p:cNvSpPr/>
          <p:nvPr/>
        </p:nvSpPr>
        <p:spPr>
          <a:xfrm>
            <a:off x="5029200" y="468172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24"/>
          <p:cNvSpPr/>
          <p:nvPr/>
        </p:nvSpPr>
        <p:spPr>
          <a:xfrm>
            <a:off x="5257800" y="4871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67528" y="5005426"/>
            <a:ext cx="237744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905195" y="1276502"/>
            <a:ext cx="1528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CNC &amp; Sensörler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905195" y="1571854"/>
            <a:ext cx="52724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Digitheta CNC Testere'den canlı veri akışı: Kesme Gücü (W), İlerleme Hızı (mm/dk) ve RPM parametreleri.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905195" y="2585923"/>
            <a:ext cx="1396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Servisi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905195" y="2881274"/>
            <a:ext cx="51489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ana uç nokta (endpoint), Pydantic ile katı veri tipi doğrulama, Uvicorn üzerinde asenkron mimari.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905195" y="3743554"/>
            <a:ext cx="1119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Performans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5905195" y="4038905"/>
            <a:ext cx="5110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Toplu tahminlerde &lt; 5ms yanıt süresi, saniyede &gt; 200 istek işleme kapasitesi ve ~150MB bellek kullanımı.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5905195" y="4900270"/>
            <a:ext cx="1786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05195" y="5195621"/>
            <a:ext cx="53775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İzole konteyner ortamı, Docker Compose ile orkestrasyon, production-ready yapı ve Swagger UI dokümantasyonu.</a:t>
            </a:r>
            <a:endParaRPr lang="en-US" sz="1000" dirty="0"/>
          </a:p>
        </p:txBody>
      </p:sp>
      <p:pic>
        <p:nvPicPr>
          <p:cNvPr id="40" name="Picture 39" descr="A blue and black logo&#10;&#10;AI-generated content may be incorrect.">
            <a:extLst>
              <a:ext uri="{FF2B5EF4-FFF2-40B4-BE49-F238E27FC236}">
                <a16:creationId xmlns:a16="http://schemas.microsoft.com/office/drawing/2014/main" id="{BC15739A-781E-F583-759A-3473D19F97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238" y="6257382"/>
            <a:ext cx="1774868" cy="532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4267505" y="0"/>
            <a:ext cx="792510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0824667" y="304495"/>
            <a:ext cx="1067105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10986516" y="428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 txBox="1"/>
          <p:nvPr/>
        </p:nvSpPr>
        <p:spPr>
          <a:xfrm>
            <a:off x="11138306" y="390449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Agent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838505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457200" y="5896051"/>
            <a:ext cx="33531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6238951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" y="504749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RAG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857707"/>
            <a:ext cx="3657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Bilişsel Katman Detayı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19090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 Agent,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499970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ve Akıllı Karar Mekanizması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05002" y="6219749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Orkestrasyonu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1057046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5029200" y="1057046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5257800" y="1248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5376672" y="1380744"/>
            <a:ext cx="219456" cy="1901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0" y="2367382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1" name="Shape 17"/>
          <p:cNvSpPr/>
          <p:nvPr/>
        </p:nvSpPr>
        <p:spPr>
          <a:xfrm>
            <a:off x="5029200" y="2367382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Shape 18"/>
          <p:cNvSpPr/>
          <p:nvPr/>
        </p:nvSpPr>
        <p:spPr>
          <a:xfrm>
            <a:off x="5257800" y="255757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5400446" y="2691079"/>
            <a:ext cx="171907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29200" y="352409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Shape 20"/>
          <p:cNvSpPr/>
          <p:nvPr/>
        </p:nvSpPr>
        <p:spPr>
          <a:xfrm>
            <a:off x="5029200" y="352409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5257800" y="371520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63" b="-63"/>
          <a:stretch/>
        </p:blipFill>
        <p:spPr>
          <a:xfrm>
            <a:off x="5395874" y="3847795"/>
            <a:ext cx="181051" cy="1901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0" y="4681728"/>
            <a:ext cx="6400800" cy="1123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23"/>
          <p:cNvSpPr/>
          <p:nvPr/>
        </p:nvSpPr>
        <p:spPr>
          <a:xfrm>
            <a:off x="5029200" y="4681728"/>
            <a:ext cx="38405" cy="112379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Shape 24"/>
          <p:cNvSpPr/>
          <p:nvPr/>
        </p:nvSpPr>
        <p:spPr>
          <a:xfrm>
            <a:off x="5257800" y="4871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1302" y="5005426"/>
            <a:ext cx="190195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905195" y="1276502"/>
            <a:ext cx="1948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 (Low-Code)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905195" y="1571854"/>
            <a:ext cx="47292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orkestrasyonu. Araçlar: Dosya Okuma (Excel/PDF), Python REPL (Hesaplama), API İsteği (CNC Tahmin).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905195" y="2585923"/>
            <a:ext cx="2024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Altyapısı (Qdrant)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905195" y="2881274"/>
            <a:ext cx="5110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Vektör veritabanı entegrasyonu. 384 boyutlu vektörler, Cosine benzerlik hesabı. Proje bağlamı ve veri sözlüğü indeksi.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905195" y="3743554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GenAI Model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5905195" y="4038905"/>
            <a:ext cx="5291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Doğal dil anlama ve yanıt üretimi. Özelleştirilmiş sistem yönergesi (System Prompt) ile domain odaklı uzman davranışı.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5905195" y="4900270"/>
            <a:ext cx="16532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Notları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05195" y="5195621"/>
            <a:ext cx="5300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Güvenlik için API Key yönetimi, maliyet kontrolü için oran kısıtlama (rate limiting) ve giriş verisi doğrulama.</a:t>
            </a:r>
            <a:endParaRPr lang="en-US" sz="1000" dirty="0"/>
          </a:p>
        </p:txBody>
      </p:sp>
      <p:pic>
        <p:nvPicPr>
          <p:cNvPr id="40" name="Picture 39" descr="A blue and black logo&#10;&#10;AI-generated content may be incorrect.">
            <a:extLst>
              <a:ext uri="{FF2B5EF4-FFF2-40B4-BE49-F238E27FC236}">
                <a16:creationId xmlns:a16="http://schemas.microsoft.com/office/drawing/2014/main" id="{8E2A3F04-068F-09CF-0A8A-8D73FC1996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238" y="6257382"/>
            <a:ext cx="1774868" cy="532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252374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2361895" y="33430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5524805" y="33430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8686800" y="33430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9791395" y="2657246"/>
            <a:ext cx="2095805" cy="1410005"/>
          </a:xfrm>
          <a:prstGeom prst="roundRect">
            <a:avLst>
              <a:gd name="adj" fmla="val 7011"/>
            </a:avLst>
          </a:prstGeom>
          <a:solidFill>
            <a:srgbClr val="EFF6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 txBox="1"/>
          <p:nvPr/>
        </p:nvSpPr>
        <p:spPr>
          <a:xfrm>
            <a:off x="9944100" y="2809951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ASİSTAN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944100" y="3010205"/>
            <a:ext cx="17199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Tahmin edilen aşınma: 7.3 mm/saat.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944100" y="3457346"/>
            <a:ext cx="15627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"Yüksek güç kullanımı malzemeyi yumuşattığı için aşınma düşük seviyededir."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52099" y="4233672"/>
            <a:ext cx="114300" cy="1143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004804" y="4219956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Süresi: &lt;1s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5648249"/>
            <a:ext cx="12191695" cy="12097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Shape 11"/>
          <p:cNvSpPr/>
          <p:nvPr/>
        </p:nvSpPr>
        <p:spPr>
          <a:xfrm>
            <a:off x="0" y="5648249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Shape 12"/>
          <p:cNvSpPr/>
          <p:nvPr/>
        </p:nvSpPr>
        <p:spPr>
          <a:xfrm>
            <a:off x="1733702" y="5991149"/>
            <a:ext cx="9144" cy="5330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 txBox="1"/>
          <p:nvPr/>
        </p:nvSpPr>
        <p:spPr>
          <a:xfrm>
            <a:off x="457200" y="6019495"/>
            <a:ext cx="681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Neden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286500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Low-Code?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040026" y="5886907"/>
            <a:ext cx="3086100" cy="743407"/>
          </a:xfrm>
          <a:prstGeom prst="roundRect">
            <a:avLst>
              <a:gd name="adj" fmla="val 18923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Shape 16"/>
          <p:cNvSpPr/>
          <p:nvPr/>
        </p:nvSpPr>
        <p:spPr>
          <a:xfrm>
            <a:off x="2278685" y="60670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71954" y="6163056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808122" y="6019495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Hızlı Geliştirme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2808122" y="6200546"/>
            <a:ext cx="19431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Sürükle &amp; Bırak ile dakikalar içinde akış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348326" y="5886907"/>
            <a:ext cx="3086100" cy="743407"/>
          </a:xfrm>
          <a:prstGeom prst="roundRect">
            <a:avLst>
              <a:gd name="adj" fmla="val 18923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667451" y="6163056"/>
            <a:ext cx="219456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119165" y="6096305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Görsel Debug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119165" y="6277356"/>
            <a:ext cx="1781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adımın çıktısını anlık izleme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655710" y="5886907"/>
            <a:ext cx="3086100" cy="743407"/>
          </a:xfrm>
          <a:prstGeom prst="roundRect">
            <a:avLst>
              <a:gd name="adj" fmla="val 18923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Shape 23"/>
          <p:cNvSpPr/>
          <p:nvPr/>
        </p:nvSpPr>
        <p:spPr>
          <a:xfrm>
            <a:off x="8893454" y="60670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13241" y="6163056"/>
            <a:ext cx="142646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427464" y="6096305"/>
            <a:ext cx="1319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Kolay Entegrasyon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427464" y="6277356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fonksiyonlarını direkt bağlama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04495" y="2710282"/>
            <a:ext cx="1904695" cy="1304849"/>
          </a:xfrm>
          <a:prstGeom prst="roundRect">
            <a:avLst>
              <a:gd name="adj" fmla="val 818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3" name="Shape 27"/>
          <p:cNvSpPr/>
          <p:nvPr/>
        </p:nvSpPr>
        <p:spPr>
          <a:xfrm>
            <a:off x="304495" y="2710282"/>
            <a:ext cx="1904695" cy="47549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4" name="Shape 28"/>
          <p:cNvSpPr/>
          <p:nvPr/>
        </p:nvSpPr>
        <p:spPr>
          <a:xfrm>
            <a:off x="1067105" y="294802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171346" y="3043123"/>
            <a:ext cx="171907" cy="1901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17220" y="3424428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Kullanıcı / Sistem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98525" y="3672230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Girişi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467405" y="2557577"/>
            <a:ext cx="1904695" cy="1609344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9" name="Shape 32"/>
          <p:cNvSpPr/>
          <p:nvPr/>
        </p:nvSpPr>
        <p:spPr>
          <a:xfrm>
            <a:off x="3467405" y="2557577"/>
            <a:ext cx="1904695" cy="4754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0" name="Shape 33"/>
          <p:cNvSpPr/>
          <p:nvPr/>
        </p:nvSpPr>
        <p:spPr>
          <a:xfrm>
            <a:off x="4229100" y="279532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24198" y="2890418"/>
            <a:ext cx="190195" cy="190195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3931920" y="3748126"/>
            <a:ext cx="981151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3" name="Text 35"/>
          <p:cNvSpPr txBox="1"/>
          <p:nvPr/>
        </p:nvSpPr>
        <p:spPr>
          <a:xfrm>
            <a:off x="4134002" y="3271723"/>
            <a:ext cx="695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4016959" y="3519526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Sayısal Tahmin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007815" y="379567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y_pred = 7.3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629400" y="2499970"/>
            <a:ext cx="1904695" cy="1723644"/>
          </a:xfrm>
          <a:prstGeom prst="roundRect">
            <a:avLst>
              <a:gd name="adj" fmla="val 469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7" name="Shape 39"/>
          <p:cNvSpPr/>
          <p:nvPr/>
        </p:nvSpPr>
        <p:spPr>
          <a:xfrm>
            <a:off x="6629400" y="2499970"/>
            <a:ext cx="1904695" cy="47549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t="-310" b="-310"/>
          <a:stretch/>
        </p:blipFill>
        <p:spPr>
          <a:xfrm>
            <a:off x="7434986" y="2770632"/>
            <a:ext cx="295351" cy="237744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6936638" y="3807562"/>
            <a:ext cx="705002" cy="295351"/>
          </a:xfrm>
          <a:prstGeom prst="roundRect">
            <a:avLst>
              <a:gd name="adj" fmla="val 399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0" name="Shape 41"/>
          <p:cNvSpPr/>
          <p:nvPr/>
        </p:nvSpPr>
        <p:spPr>
          <a:xfrm>
            <a:off x="7676388" y="3807562"/>
            <a:ext cx="552298" cy="295351"/>
          </a:xfrm>
          <a:prstGeom prst="roundRect">
            <a:avLst>
              <a:gd name="adj" fmla="val 399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1" name="Text 42"/>
          <p:cNvSpPr txBox="1"/>
          <p:nvPr/>
        </p:nvSpPr>
        <p:spPr>
          <a:xfrm>
            <a:off x="6856171" y="3210458"/>
            <a:ext cx="1586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 Agent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7102145" y="3514039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Mantık &amp; Sentez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6998818" y="3849624"/>
            <a:ext cx="695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7739482" y="3849624"/>
            <a:ext cx="5431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7582205" y="4310482"/>
            <a:ext cx="28346" cy="62910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TR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5A0B347-6E79-201F-6364-933CC174AA8C}"/>
              </a:ext>
            </a:extLst>
          </p:cNvPr>
          <p:cNvGrpSpPr/>
          <p:nvPr/>
        </p:nvGrpSpPr>
        <p:grpSpPr>
          <a:xfrm>
            <a:off x="6601053" y="4487905"/>
            <a:ext cx="2018995" cy="1076249"/>
            <a:chOff x="6576365" y="3933749"/>
            <a:chExt cx="2018995" cy="1076249"/>
          </a:xfrm>
        </p:grpSpPr>
        <p:sp>
          <p:nvSpPr>
            <p:cNvPr id="57" name="Shape 48"/>
            <p:cNvSpPr/>
            <p:nvPr/>
          </p:nvSpPr>
          <p:spPr>
            <a:xfrm>
              <a:off x="6576365" y="3933749"/>
              <a:ext cx="2018995" cy="1076249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en-TR"/>
            </a:p>
          </p:txBody>
        </p:sp>
        <p:pic>
          <p:nvPicPr>
            <p:cNvPr id="58" name="Image 7" descr="preencoded.png"/>
            <p:cNvPicPr>
              <a:picLocks noChangeAspect="1"/>
            </p:cNvPicPr>
            <p:nvPr/>
          </p:nvPicPr>
          <p:blipFill>
            <a:blip r:embed="rId10"/>
            <a:srcRect t="-1412" b="-1412"/>
            <a:stretch/>
          </p:blipFill>
          <p:spPr>
            <a:xfrm>
              <a:off x="6719926" y="4373575"/>
              <a:ext cx="161849" cy="190195"/>
            </a:xfrm>
            <a:prstGeom prst="rect">
              <a:avLst/>
            </a:prstGeom>
          </p:spPr>
        </p:pic>
        <p:sp>
          <p:nvSpPr>
            <p:cNvPr id="59" name="Text 49"/>
            <p:cNvSpPr txBox="1"/>
            <p:nvPr/>
          </p:nvSpPr>
          <p:spPr>
            <a:xfrm>
              <a:off x="7010705" y="4069994"/>
              <a:ext cx="9052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7415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RAG (Qdrant)</a:t>
              </a:r>
              <a:endParaRPr lang="en-US" sz="900" dirty="0"/>
            </a:p>
          </p:txBody>
        </p:sp>
        <p:sp>
          <p:nvSpPr>
            <p:cNvPr id="60" name="Text 50"/>
            <p:cNvSpPr txBox="1"/>
            <p:nvPr/>
          </p:nvSpPr>
          <p:spPr>
            <a:xfrm>
              <a:off x="7010705" y="4237330"/>
              <a:ext cx="1114654" cy="629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B728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"Yüksek güç malzemeyi yumuşatır"</a:t>
              </a:r>
              <a:endParaRPr lang="en-US" sz="1200" dirty="0"/>
            </a:p>
          </p:txBody>
        </p:sp>
      </p:grpSp>
      <p:sp>
        <p:nvSpPr>
          <p:cNvPr id="61" name="Shape 51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2" name="Shape 52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3" name="Shape 53"/>
          <p:cNvSpPr/>
          <p:nvPr/>
        </p:nvSpPr>
        <p:spPr>
          <a:xfrm>
            <a:off x="9798710" y="495605"/>
            <a:ext cx="19431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4" name="Text 54"/>
          <p:cNvSpPr txBox="1"/>
          <p:nvPr/>
        </p:nvSpPr>
        <p:spPr>
          <a:xfrm>
            <a:off x="457200" y="237744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SÜREÇ AKIŞI</a:t>
            </a:r>
            <a:endParaRPr lang="en-US" sz="1000" dirty="0"/>
          </a:p>
        </p:txBody>
      </p:sp>
      <p:sp>
        <p:nvSpPr>
          <p:cNvPr id="65" name="Text 55"/>
          <p:cNvSpPr txBox="1"/>
          <p:nvPr/>
        </p:nvSpPr>
        <p:spPr>
          <a:xfrm>
            <a:off x="457200" y="437998"/>
            <a:ext cx="51151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"Konuşan" API Nasıl Çalışır?</a:t>
            </a:r>
            <a:endParaRPr lang="en-US" sz="2700" dirty="0"/>
          </a:p>
        </p:txBody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9951415" y="598018"/>
            <a:ext cx="114300" cy="133502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10141610" y="580644"/>
            <a:ext cx="1548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Zamanlı Analiz</a:t>
            </a:r>
            <a:endParaRPr lang="en-US" sz="1000" dirty="0"/>
          </a:p>
        </p:txBody>
      </p:sp>
      <p:sp>
        <p:nvSpPr>
          <p:cNvPr id="68" name="Shape 57"/>
          <p:cNvSpPr/>
          <p:nvPr/>
        </p:nvSpPr>
        <p:spPr>
          <a:xfrm>
            <a:off x="495605" y="2138782"/>
            <a:ext cx="1524305" cy="1028700"/>
          </a:xfrm>
          <a:prstGeom prst="roundRect">
            <a:avLst>
              <a:gd name="adj" fmla="val 6584"/>
            </a:avLst>
          </a:prstGeom>
          <a:solidFill>
            <a:srgbClr val="1F2937"/>
          </a:solidFill>
          <a:ln/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9" name="Text 58"/>
          <p:cNvSpPr txBox="1"/>
          <p:nvPr/>
        </p:nvSpPr>
        <p:spPr>
          <a:xfrm>
            <a:off x="609905" y="2262226"/>
            <a:ext cx="14721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800" dirty="0"/>
          </a:p>
        </p:txBody>
      </p:sp>
      <p:sp>
        <p:nvSpPr>
          <p:cNvPr id="70" name="Text 59"/>
          <p:cNvSpPr txBox="1"/>
          <p:nvPr/>
        </p:nvSpPr>
        <p:spPr>
          <a:xfrm>
            <a:off x="609905" y="2422246"/>
            <a:ext cx="91897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"power": 150,</a:t>
            </a:r>
            <a:endParaRPr lang="en-US" sz="800" dirty="0"/>
          </a:p>
        </p:txBody>
      </p:sp>
      <p:sp>
        <p:nvSpPr>
          <p:cNvPr id="71" name="Text 60"/>
          <p:cNvSpPr txBox="1"/>
          <p:nvPr/>
        </p:nvSpPr>
        <p:spPr>
          <a:xfrm>
            <a:off x="609905" y="2582266"/>
            <a:ext cx="7854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"feed": 80,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609905" y="2742286"/>
            <a:ext cx="7854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"rpm": 2500</a:t>
            </a:r>
            <a:endParaRPr lang="en-US" sz="800" dirty="0"/>
          </a:p>
        </p:txBody>
      </p:sp>
      <p:sp>
        <p:nvSpPr>
          <p:cNvPr id="73" name="Text 62"/>
          <p:cNvSpPr txBox="1"/>
          <p:nvPr/>
        </p:nvSpPr>
        <p:spPr>
          <a:xfrm>
            <a:off x="609905" y="2902306"/>
            <a:ext cx="14721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9868205" y="571500"/>
            <a:ext cx="1867205" cy="3429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030054" y="657454"/>
            <a:ext cx="152705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58654" y="666598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3.9+ Ecosystem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4554"/>
            <a:ext cx="1548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TEKNOLOJİ STACK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14807"/>
            <a:ext cx="3277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Kullanılan Araçlar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457200" y="1218895"/>
            <a:ext cx="5524805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0" name="Shape 7"/>
          <p:cNvSpPr/>
          <p:nvPr/>
        </p:nvSpPr>
        <p:spPr>
          <a:xfrm>
            <a:off x="457200" y="1218895"/>
            <a:ext cx="57607" cy="24761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3000"/>
          </a:blip>
          <a:srcRect/>
          <a:stretch/>
        </p:blipFill>
        <p:spPr>
          <a:xfrm>
            <a:off x="4677156" y="2391156"/>
            <a:ext cx="1495044" cy="14950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3407" y="2018995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Shape 9"/>
          <p:cNvSpPr/>
          <p:nvPr/>
        </p:nvSpPr>
        <p:spPr>
          <a:xfrm>
            <a:off x="743407" y="144749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1561795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52398" y="1466698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 &amp; Modelleme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52398" y="1752905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SCİENCE CORE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43407" y="2219249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914400" y="2384755"/>
            <a:ext cx="133502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1346" y="2324405"/>
            <a:ext cx="579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71346" y="2491740"/>
            <a:ext cx="7854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3.9 Runtime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3305556" y="2219249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67405" y="2384755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33495" y="2324405"/>
            <a:ext cx="5989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3733495" y="2491740"/>
            <a:ext cx="7278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Frame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743407" y="281726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5256" y="2983687"/>
            <a:ext cx="152705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71346" y="2922422"/>
            <a:ext cx="8750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71346" y="3089758"/>
            <a:ext cx="52852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Algo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3305556" y="281726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3486607" y="2983687"/>
            <a:ext cx="114300" cy="1527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733495" y="2922422"/>
            <a:ext cx="588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3733495" y="3089758"/>
            <a:ext cx="33741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6210605" y="1218895"/>
            <a:ext cx="5524805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4" name="Shape 25"/>
          <p:cNvSpPr/>
          <p:nvPr/>
        </p:nvSpPr>
        <p:spPr>
          <a:xfrm>
            <a:off x="6210605" y="1218895"/>
            <a:ext cx="57607" cy="247619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>
            <a:alphaModFix amt="3000"/>
          </a:blip>
          <a:srcRect/>
          <a:stretch/>
        </p:blipFill>
        <p:spPr>
          <a:xfrm>
            <a:off x="10429646" y="2391156"/>
            <a:ext cx="1495044" cy="149504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495898" y="2018995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7" name="Shape 27"/>
          <p:cNvSpPr/>
          <p:nvPr/>
        </p:nvSpPr>
        <p:spPr>
          <a:xfrm>
            <a:off x="6495898" y="144749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6596482" y="1561795"/>
            <a:ext cx="256946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105802" y="1466698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Üretim Ortamı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7105802" y="1752905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DEPLOYMENT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6495898" y="2219249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6667805" y="2384755"/>
            <a:ext cx="133502" cy="15270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924751" y="2324405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6924751" y="2491740"/>
            <a:ext cx="5943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800" dirty="0"/>
          </a:p>
        </p:txBody>
      </p:sp>
      <p:sp>
        <p:nvSpPr>
          <p:cNvPr id="45" name="Shape 33"/>
          <p:cNvSpPr/>
          <p:nvPr/>
        </p:nvSpPr>
        <p:spPr>
          <a:xfrm>
            <a:off x="9058046" y="2219249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9201607" y="2384755"/>
            <a:ext cx="190195" cy="15270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486900" y="2324405"/>
            <a:ext cx="579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9486900" y="2491740"/>
            <a:ext cx="66111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</a:t>
            </a:r>
            <a:endParaRPr lang="en-US" sz="800" dirty="0"/>
          </a:p>
        </p:txBody>
      </p:sp>
      <p:sp>
        <p:nvSpPr>
          <p:cNvPr id="49" name="Shape 36"/>
          <p:cNvSpPr/>
          <p:nvPr/>
        </p:nvSpPr>
        <p:spPr>
          <a:xfrm>
            <a:off x="6495898" y="281726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657746" y="2983687"/>
            <a:ext cx="152705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924751" y="2922422"/>
            <a:ext cx="6839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6924751" y="3089758"/>
            <a:ext cx="7278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3" name="Shape 39"/>
          <p:cNvSpPr/>
          <p:nvPr/>
        </p:nvSpPr>
        <p:spPr>
          <a:xfrm>
            <a:off x="9058046" y="281726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 l="-33" r="-33"/>
          <a:stretch/>
        </p:blipFill>
        <p:spPr>
          <a:xfrm>
            <a:off x="9210751" y="2983687"/>
            <a:ext cx="171907" cy="15270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486900" y="2922422"/>
            <a:ext cx="7415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9486900" y="3089758"/>
            <a:ext cx="91897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57" name="Shape 42"/>
          <p:cNvSpPr/>
          <p:nvPr/>
        </p:nvSpPr>
        <p:spPr>
          <a:xfrm>
            <a:off x="457200" y="3924605"/>
            <a:ext cx="5524805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8" name="Shape 43"/>
          <p:cNvSpPr/>
          <p:nvPr/>
        </p:nvSpPr>
        <p:spPr>
          <a:xfrm>
            <a:off x="457200" y="3924605"/>
            <a:ext cx="57607" cy="2476195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>
            <a:alphaModFix amt="3000"/>
          </a:blip>
          <a:srcRect t="-4871" b="-4871"/>
          <a:stretch/>
        </p:blipFill>
        <p:spPr>
          <a:xfrm>
            <a:off x="4381805" y="5020056"/>
            <a:ext cx="1790395" cy="1571854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743407" y="4724705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7"/>
          <a:srcRect t="-45" b="-45"/>
          <a:stretch/>
        </p:blipFill>
        <p:spPr>
          <a:xfrm>
            <a:off x="843077" y="4267505"/>
            <a:ext cx="256946" cy="228600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1352398" y="4172407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&amp; RAG</a:t>
            </a:r>
            <a:endParaRPr lang="en-US" sz="1500" dirty="0"/>
          </a:p>
        </p:txBody>
      </p:sp>
      <p:sp>
        <p:nvSpPr>
          <p:cNvPr id="63" name="Text 46"/>
          <p:cNvSpPr txBox="1"/>
          <p:nvPr/>
        </p:nvSpPr>
        <p:spPr>
          <a:xfrm>
            <a:off x="1352398" y="4457700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COGNİTİVE LAYER</a:t>
            </a:r>
            <a:endParaRPr lang="en-US" sz="900" dirty="0"/>
          </a:p>
        </p:txBody>
      </p:sp>
      <p:sp>
        <p:nvSpPr>
          <p:cNvPr id="64" name="Shape 47"/>
          <p:cNvSpPr/>
          <p:nvPr/>
        </p:nvSpPr>
        <p:spPr>
          <a:xfrm>
            <a:off x="743407" y="4924044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8"/>
          <a:srcRect l="-33" r="-33"/>
          <a:stretch/>
        </p:blipFill>
        <p:spPr>
          <a:xfrm>
            <a:off x="895198" y="5090465"/>
            <a:ext cx="171907" cy="152705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1171346" y="5029200"/>
            <a:ext cx="7223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</a:t>
            </a:r>
            <a:endParaRPr lang="en-US" sz="1000" dirty="0"/>
          </a:p>
        </p:txBody>
      </p:sp>
      <p:sp>
        <p:nvSpPr>
          <p:cNvPr id="67" name="Text 49"/>
          <p:cNvSpPr txBox="1"/>
          <p:nvPr/>
        </p:nvSpPr>
        <p:spPr>
          <a:xfrm>
            <a:off x="1171346" y="5196535"/>
            <a:ext cx="5943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Low-Code</a:t>
            </a:r>
            <a:endParaRPr lang="en-US" sz="800" dirty="0"/>
          </a:p>
        </p:txBody>
      </p:sp>
      <p:sp>
        <p:nvSpPr>
          <p:cNvPr id="68" name="Shape 50"/>
          <p:cNvSpPr/>
          <p:nvPr/>
        </p:nvSpPr>
        <p:spPr>
          <a:xfrm>
            <a:off x="3305556" y="4924044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9"/>
          <a:srcRect t="-1017" b="-1017"/>
          <a:stretch/>
        </p:blipFill>
        <p:spPr>
          <a:xfrm>
            <a:off x="3471977" y="5090465"/>
            <a:ext cx="142646" cy="152705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3733495" y="5029200"/>
            <a:ext cx="5129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</a:t>
            </a:r>
            <a:endParaRPr lang="en-US" sz="1000" dirty="0"/>
          </a:p>
        </p:txBody>
      </p:sp>
      <p:sp>
        <p:nvSpPr>
          <p:cNvPr id="71" name="Text 52"/>
          <p:cNvSpPr txBox="1"/>
          <p:nvPr/>
        </p:nvSpPr>
        <p:spPr>
          <a:xfrm>
            <a:off x="3733495" y="5196535"/>
            <a:ext cx="7278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Gemini Pro</a:t>
            </a:r>
            <a:endParaRPr lang="en-US" sz="800" dirty="0"/>
          </a:p>
        </p:txBody>
      </p:sp>
      <p:sp>
        <p:nvSpPr>
          <p:cNvPr id="72" name="Shape 53"/>
          <p:cNvSpPr/>
          <p:nvPr/>
        </p:nvSpPr>
        <p:spPr>
          <a:xfrm>
            <a:off x="743407" y="552297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3" name="Image 17" descr="preencoded.png"/>
          <p:cNvPicPr>
            <a:picLocks noChangeAspect="1"/>
          </p:cNvPicPr>
          <p:nvPr/>
        </p:nvPicPr>
        <p:blipFill>
          <a:blip r:embed="rId20"/>
          <a:srcRect t="-43" b="-43"/>
          <a:stretch/>
        </p:blipFill>
        <p:spPr>
          <a:xfrm>
            <a:off x="914400" y="5688482"/>
            <a:ext cx="133502" cy="152705"/>
          </a:xfrm>
          <a:prstGeom prst="rect">
            <a:avLst/>
          </a:prstGeom>
        </p:spPr>
      </p:pic>
      <p:sp>
        <p:nvSpPr>
          <p:cNvPr id="74" name="Text 54"/>
          <p:cNvSpPr txBox="1"/>
          <p:nvPr/>
        </p:nvSpPr>
        <p:spPr>
          <a:xfrm>
            <a:off x="1171346" y="5627218"/>
            <a:ext cx="5605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</a:t>
            </a:r>
            <a:endParaRPr lang="en-US" sz="1000" dirty="0"/>
          </a:p>
        </p:txBody>
      </p:sp>
      <p:sp>
        <p:nvSpPr>
          <p:cNvPr id="75" name="Text 55"/>
          <p:cNvSpPr txBox="1"/>
          <p:nvPr/>
        </p:nvSpPr>
        <p:spPr>
          <a:xfrm>
            <a:off x="1171346" y="5795467"/>
            <a:ext cx="66111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DB</a:t>
            </a:r>
            <a:endParaRPr lang="en-US" sz="800" dirty="0"/>
          </a:p>
        </p:txBody>
      </p:sp>
      <p:sp>
        <p:nvSpPr>
          <p:cNvPr id="76" name="Shape 56"/>
          <p:cNvSpPr/>
          <p:nvPr/>
        </p:nvSpPr>
        <p:spPr>
          <a:xfrm>
            <a:off x="3305556" y="552297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467405" y="5688482"/>
            <a:ext cx="152705" cy="152705"/>
          </a:xfrm>
          <a:prstGeom prst="rect">
            <a:avLst/>
          </a:prstGeom>
        </p:spPr>
      </p:pic>
      <p:sp>
        <p:nvSpPr>
          <p:cNvPr id="78" name="Text 57"/>
          <p:cNvSpPr txBox="1"/>
          <p:nvPr/>
        </p:nvSpPr>
        <p:spPr>
          <a:xfrm>
            <a:off x="3733495" y="5627218"/>
            <a:ext cx="3986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000" dirty="0"/>
          </a:p>
        </p:txBody>
      </p:sp>
      <p:sp>
        <p:nvSpPr>
          <p:cNvPr id="79" name="Text 58"/>
          <p:cNvSpPr txBox="1"/>
          <p:nvPr/>
        </p:nvSpPr>
        <p:spPr>
          <a:xfrm>
            <a:off x="3733495" y="5795467"/>
            <a:ext cx="52852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800" dirty="0"/>
          </a:p>
        </p:txBody>
      </p:sp>
      <p:sp>
        <p:nvSpPr>
          <p:cNvPr id="80" name="Shape 59"/>
          <p:cNvSpPr/>
          <p:nvPr/>
        </p:nvSpPr>
        <p:spPr>
          <a:xfrm>
            <a:off x="6210605" y="3924605"/>
            <a:ext cx="5524805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81" name="Shape 60"/>
          <p:cNvSpPr/>
          <p:nvPr/>
        </p:nvSpPr>
        <p:spPr>
          <a:xfrm>
            <a:off x="6210605" y="3924605"/>
            <a:ext cx="57607" cy="247619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 r:embed="rId22">
            <a:alphaModFix amt="3000"/>
          </a:blip>
          <a:srcRect/>
          <a:stretch/>
        </p:blipFill>
        <p:spPr>
          <a:xfrm>
            <a:off x="10429646" y="5095951"/>
            <a:ext cx="1495044" cy="1495044"/>
          </a:xfrm>
          <a:prstGeom prst="rect">
            <a:avLst/>
          </a:prstGeom>
        </p:spPr>
      </p:pic>
      <p:sp>
        <p:nvSpPr>
          <p:cNvPr id="83" name="Shape 61"/>
          <p:cNvSpPr/>
          <p:nvPr/>
        </p:nvSpPr>
        <p:spPr>
          <a:xfrm>
            <a:off x="6495898" y="4724705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 r:embed="rId23"/>
          <a:srcRect t="-45" b="-45"/>
          <a:stretch/>
        </p:blipFill>
        <p:spPr>
          <a:xfrm>
            <a:off x="6596482" y="4267505"/>
            <a:ext cx="256946" cy="228600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7105802" y="4172407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&amp; İzleme</a:t>
            </a:r>
            <a:endParaRPr lang="en-US" sz="1500" dirty="0"/>
          </a:p>
        </p:txBody>
      </p:sp>
      <p:sp>
        <p:nvSpPr>
          <p:cNvPr id="86" name="Text 63"/>
          <p:cNvSpPr txBox="1"/>
          <p:nvPr/>
        </p:nvSpPr>
        <p:spPr>
          <a:xfrm>
            <a:off x="7105802" y="4457700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RELİABİLİTY</a:t>
            </a:r>
            <a:endParaRPr lang="en-US" sz="900" dirty="0"/>
          </a:p>
        </p:txBody>
      </p:sp>
      <p:sp>
        <p:nvSpPr>
          <p:cNvPr id="87" name="Shape 64"/>
          <p:cNvSpPr/>
          <p:nvPr/>
        </p:nvSpPr>
        <p:spPr>
          <a:xfrm>
            <a:off x="6495898" y="4924044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88" name="Image 21" descr="preencoded.png"/>
          <p:cNvPicPr>
            <a:picLocks noChangeAspect="1"/>
          </p:cNvPicPr>
          <p:nvPr/>
        </p:nvPicPr>
        <p:blipFill>
          <a:blip r:embed="rId24"/>
          <a:srcRect l="-33" r="-33"/>
          <a:stretch/>
        </p:blipFill>
        <p:spPr>
          <a:xfrm>
            <a:off x="6648602" y="5090465"/>
            <a:ext cx="171907" cy="152705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6924751" y="5029200"/>
            <a:ext cx="4553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</a:t>
            </a:r>
            <a:endParaRPr lang="en-US" sz="1000" dirty="0"/>
          </a:p>
        </p:txBody>
      </p:sp>
      <p:sp>
        <p:nvSpPr>
          <p:cNvPr id="90" name="Text 66"/>
          <p:cNvSpPr txBox="1"/>
          <p:nvPr/>
        </p:nvSpPr>
        <p:spPr>
          <a:xfrm>
            <a:off x="6924751" y="5196535"/>
            <a:ext cx="5943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Test</a:t>
            </a:r>
            <a:endParaRPr lang="en-US" sz="800" dirty="0"/>
          </a:p>
        </p:txBody>
      </p:sp>
      <p:sp>
        <p:nvSpPr>
          <p:cNvPr id="91" name="Shape 67"/>
          <p:cNvSpPr/>
          <p:nvPr/>
        </p:nvSpPr>
        <p:spPr>
          <a:xfrm>
            <a:off x="9058046" y="4924044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92" name="Image 22" descr="preencoded.png"/>
          <p:cNvPicPr>
            <a:picLocks noChangeAspect="1"/>
          </p:cNvPicPr>
          <p:nvPr/>
        </p:nvPicPr>
        <p:blipFill>
          <a:blip r:embed="rId25"/>
          <a:srcRect t="-43" b="-43"/>
          <a:stretch/>
        </p:blipFill>
        <p:spPr>
          <a:xfrm>
            <a:off x="9229954" y="5090465"/>
            <a:ext cx="133502" cy="152705"/>
          </a:xfrm>
          <a:prstGeom prst="rect">
            <a:avLst/>
          </a:prstGeom>
        </p:spPr>
      </p:pic>
      <p:sp>
        <p:nvSpPr>
          <p:cNvPr id="93" name="Text 68"/>
          <p:cNvSpPr txBox="1"/>
          <p:nvPr/>
        </p:nvSpPr>
        <p:spPr>
          <a:xfrm>
            <a:off x="9486900" y="5029200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94" name="Text 69"/>
          <p:cNvSpPr txBox="1"/>
          <p:nvPr/>
        </p:nvSpPr>
        <p:spPr>
          <a:xfrm>
            <a:off x="9486900" y="5196535"/>
            <a:ext cx="9756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 (Plan)</a:t>
            </a:r>
            <a:endParaRPr lang="en-US" sz="800" dirty="0"/>
          </a:p>
        </p:txBody>
      </p:sp>
      <p:sp>
        <p:nvSpPr>
          <p:cNvPr id="95" name="Shape 70"/>
          <p:cNvSpPr/>
          <p:nvPr/>
        </p:nvSpPr>
        <p:spPr>
          <a:xfrm>
            <a:off x="6495898" y="552297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96" name="Image 23" descr="preencoded.png"/>
          <p:cNvPicPr>
            <a:picLocks noChangeAspect="1"/>
          </p:cNvPicPr>
          <p:nvPr/>
        </p:nvPicPr>
        <p:blipFill>
          <a:blip r:embed="rId26"/>
          <a:srcRect t="-43" b="-43"/>
          <a:stretch/>
        </p:blipFill>
        <p:spPr>
          <a:xfrm>
            <a:off x="6667805" y="5688482"/>
            <a:ext cx="133502" cy="152705"/>
          </a:xfrm>
          <a:prstGeom prst="rect">
            <a:avLst/>
          </a:prstGeom>
        </p:spPr>
      </p:pic>
      <p:sp>
        <p:nvSpPr>
          <p:cNvPr id="97" name="Text 71"/>
          <p:cNvSpPr txBox="1"/>
          <p:nvPr/>
        </p:nvSpPr>
        <p:spPr>
          <a:xfrm>
            <a:off x="6924751" y="5627218"/>
            <a:ext cx="5605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</a:t>
            </a:r>
            <a:endParaRPr lang="en-US" sz="1000" dirty="0"/>
          </a:p>
        </p:txBody>
      </p:sp>
      <p:sp>
        <p:nvSpPr>
          <p:cNvPr id="98" name="Text 72"/>
          <p:cNvSpPr txBox="1"/>
          <p:nvPr/>
        </p:nvSpPr>
        <p:spPr>
          <a:xfrm>
            <a:off x="6924751" y="5795467"/>
            <a:ext cx="7278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 Tests</a:t>
            </a:r>
            <a:endParaRPr lang="en-US" sz="800" dirty="0"/>
          </a:p>
        </p:txBody>
      </p:sp>
      <p:sp>
        <p:nvSpPr>
          <p:cNvPr id="99" name="Shape 73"/>
          <p:cNvSpPr/>
          <p:nvPr/>
        </p:nvSpPr>
        <p:spPr>
          <a:xfrm>
            <a:off x="9058046" y="5522976"/>
            <a:ext cx="2447849" cy="485546"/>
          </a:xfrm>
          <a:prstGeom prst="roundRect">
            <a:avLst>
              <a:gd name="adj" fmla="val 295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00" name="Image 24" descr="preencoded.png"/>
          <p:cNvPicPr>
            <a:picLocks noChangeAspect="1"/>
          </p:cNvPicPr>
          <p:nvPr/>
        </p:nvPicPr>
        <p:blipFill>
          <a:blip r:embed="rId27"/>
          <a:srcRect t="-180" b="-180"/>
          <a:stretch/>
        </p:blipFill>
        <p:spPr>
          <a:xfrm>
            <a:off x="9201607" y="5688482"/>
            <a:ext cx="190195" cy="152705"/>
          </a:xfrm>
          <a:prstGeom prst="rect">
            <a:avLst/>
          </a:prstGeom>
        </p:spPr>
      </p:pic>
      <p:sp>
        <p:nvSpPr>
          <p:cNvPr id="101" name="Text 74"/>
          <p:cNvSpPr txBox="1"/>
          <p:nvPr/>
        </p:nvSpPr>
        <p:spPr>
          <a:xfrm>
            <a:off x="9486900" y="5627218"/>
            <a:ext cx="694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</a:t>
            </a:r>
            <a:endParaRPr lang="en-US" sz="1000" dirty="0"/>
          </a:p>
        </p:txBody>
      </p:sp>
      <p:sp>
        <p:nvSpPr>
          <p:cNvPr id="102" name="Text 75"/>
          <p:cNvSpPr txBox="1"/>
          <p:nvPr/>
        </p:nvSpPr>
        <p:spPr>
          <a:xfrm>
            <a:off x="9486900" y="5795467"/>
            <a:ext cx="33741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4871" b="-4871"/>
          <a:stretch/>
        </p:blipFill>
        <p:spPr>
          <a:xfrm>
            <a:off x="-304495" y="5591556"/>
            <a:ext cx="1790395" cy="15718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3617366"/>
            <a:ext cx="38405" cy="9336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5"/>
          <p:cNvSpPr/>
          <p:nvPr/>
        </p:nvSpPr>
        <p:spPr>
          <a:xfrm>
            <a:off x="609905" y="1664208"/>
            <a:ext cx="1295705" cy="352044"/>
          </a:xfrm>
          <a:prstGeom prst="roundRect">
            <a:avLst>
              <a:gd name="adj" fmla="val 259740"/>
            </a:avLst>
          </a:prstGeom>
          <a:solidFill>
            <a:srgbClr val="14B8A6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761695" y="1776679"/>
            <a:ext cx="105156" cy="1335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2746" y="1759306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SIRA SİZDE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09905" y="2188159"/>
            <a:ext cx="455371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Canlı Kodlama &amp; Demo</a:t>
            </a:r>
            <a:endParaRPr lang="en-US" sz="4500" dirty="0"/>
          </a:p>
        </p:txBody>
      </p:sp>
      <p:sp>
        <p:nvSpPr>
          <p:cNvPr id="12" name="Text 8"/>
          <p:cNvSpPr txBox="1"/>
          <p:nvPr/>
        </p:nvSpPr>
        <p:spPr>
          <a:xfrm>
            <a:off x="800100" y="3654857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Teoriden pratiğe geçiyoruz.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0100" y="3964838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Kendi "Konuşan" API'mızı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0100" y="427390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birlikte çalıştıralım.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09905" y="5020056"/>
            <a:ext cx="171907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7707" y="5021885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Docker Ready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969618" y="5021885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•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2202790" y="5020056"/>
            <a:ext cx="114300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392985" y="5021885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3.9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6305" y="497434"/>
            <a:ext cx="286207" cy="2862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95898" y="468173"/>
            <a:ext cx="28913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Adımları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6096305" y="1116482"/>
            <a:ext cx="5486400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Shape 16"/>
          <p:cNvSpPr/>
          <p:nvPr/>
        </p:nvSpPr>
        <p:spPr>
          <a:xfrm>
            <a:off x="6096305" y="1116482"/>
            <a:ext cx="57607" cy="8001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Shape 17"/>
          <p:cNvSpPr/>
          <p:nvPr/>
        </p:nvSpPr>
        <p:spPr>
          <a:xfrm>
            <a:off x="6344107" y="1364285"/>
            <a:ext cx="304495" cy="304495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Text 18"/>
          <p:cNvSpPr txBox="1"/>
          <p:nvPr/>
        </p:nvSpPr>
        <p:spPr>
          <a:xfrm>
            <a:off x="6462979" y="140177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96305" y="2068373"/>
            <a:ext cx="5486400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7" name="Shape 20"/>
          <p:cNvSpPr/>
          <p:nvPr/>
        </p:nvSpPr>
        <p:spPr>
          <a:xfrm>
            <a:off x="6096305" y="2068373"/>
            <a:ext cx="57607" cy="8001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8" name="Shape 21"/>
          <p:cNvSpPr/>
          <p:nvPr/>
        </p:nvSpPr>
        <p:spPr>
          <a:xfrm>
            <a:off x="6344107" y="2316175"/>
            <a:ext cx="304495" cy="304495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Text 22"/>
          <p:cNvSpPr txBox="1"/>
          <p:nvPr/>
        </p:nvSpPr>
        <p:spPr>
          <a:xfrm>
            <a:off x="6448349" y="235458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096305" y="3021178"/>
            <a:ext cx="5486400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1" name="Shape 24"/>
          <p:cNvSpPr/>
          <p:nvPr/>
        </p:nvSpPr>
        <p:spPr>
          <a:xfrm>
            <a:off x="6096305" y="3021178"/>
            <a:ext cx="57607" cy="8001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Shape 25"/>
          <p:cNvSpPr/>
          <p:nvPr/>
        </p:nvSpPr>
        <p:spPr>
          <a:xfrm>
            <a:off x="6344107" y="3268980"/>
            <a:ext cx="304495" cy="304495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3" name="Text 26"/>
          <p:cNvSpPr txBox="1"/>
          <p:nvPr/>
        </p:nvSpPr>
        <p:spPr>
          <a:xfrm>
            <a:off x="6446520" y="3307385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801307" y="1325880"/>
            <a:ext cx="1334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Projeyi İçe Aktar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801307" y="1544422"/>
            <a:ext cx="2691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Langflow "Import" özelliği ile JSON yükle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801307" y="2278685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Bağlantısını Kur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6801307" y="2497226"/>
            <a:ext cx="2453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endpoint'ini ve key'leri ayarla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801307" y="3230575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Agent'ı Test Et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801307" y="3450031"/>
            <a:ext cx="2196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Playground üzerinden sorular sor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096305" y="4125773"/>
            <a:ext cx="5486400" cy="2266798"/>
          </a:xfrm>
          <a:prstGeom prst="roundRect">
            <a:avLst>
              <a:gd name="adj" fmla="val 203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1" name="Shape 34"/>
          <p:cNvSpPr/>
          <p:nvPr/>
        </p:nvSpPr>
        <p:spPr>
          <a:xfrm>
            <a:off x="6334049" y="4593031"/>
            <a:ext cx="5009998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2" name="Shape 35"/>
          <p:cNvSpPr/>
          <p:nvPr/>
        </p:nvSpPr>
        <p:spPr>
          <a:xfrm>
            <a:off x="6334049" y="4364431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3" name="Shape 36"/>
          <p:cNvSpPr/>
          <p:nvPr/>
        </p:nvSpPr>
        <p:spPr>
          <a:xfrm>
            <a:off x="6486754" y="4364431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4" name="Shape 37"/>
          <p:cNvSpPr/>
          <p:nvPr/>
        </p:nvSpPr>
        <p:spPr>
          <a:xfrm>
            <a:off x="6638544" y="4364431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5" name="Text 38"/>
          <p:cNvSpPr txBox="1"/>
          <p:nvPr/>
        </p:nvSpPr>
        <p:spPr>
          <a:xfrm>
            <a:off x="6867144" y="4364431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local_connections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6334049" y="4764024"/>
            <a:ext cx="10314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Langflow UI: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7286854" y="4764024"/>
            <a:ext cx="17355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http://localhost:7860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6334049" y="5034686"/>
            <a:ext cx="6501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 Docs: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7286854" y="5131613"/>
            <a:ext cx="21259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http://localhost:8000/docs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334049" y="5500116"/>
            <a:ext cx="8787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 DB: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7286854" y="5500116"/>
            <a:ext cx="250728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http://localhost:6333/dashboard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334049" y="5836615"/>
            <a:ext cx="5009998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6334049" y="6013094"/>
            <a:ext cx="142646" cy="11430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6553505" y="5999378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services active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1010</Words>
  <Application>Microsoft Macintosh PowerPoint</Application>
  <PresentationFormat>Widescreen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JetBrains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Onur Can Karaman</cp:lastModifiedBy>
  <cp:revision>2</cp:revision>
  <dcterms:created xsi:type="dcterms:W3CDTF">2025-12-13T00:07:16Z</dcterms:created>
  <dcterms:modified xsi:type="dcterms:W3CDTF">2025-12-13T00:12:10Z</dcterms:modified>
</cp:coreProperties>
</file>